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r>
              <a:rPr lang="en-US"/>
              <a:t>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000" b="1">
          <a:solidFill>
            <a:srgbClr val="1F2A44"/>
          </a:solidFill>
          <a:latin typeface="Calibri"/>
          <a:cs typeface="Calibri"/>
        </a:defRPr>
      </a:lvl1pPr>
    </p:titleStyle>
    <p:bodyStyle>
      <a:lvl1pPr marL="0" indent="0">
        <a:defRPr sz="2000">
          <a:solidFill>
            <a:srgbClr val="1F2A44"/>
          </a:solidFill>
          <a:latin typeface="Calibri"/>
        </a:defRPr>
      </a:lvl1pPr>
    </p:bodyStyle>
    <p:otherStyle>
      <a:lvl1pPr marL="0">
        <a:defRPr sz="1800">
          <a:solidFill>
            <a:srgbClr val="1F2A44"/>
          </a:solidFill>
          <a:latin typeface="Calibr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820994"/>
            <a:ext cx="10424160" cy="2103120"/>
          </a:xfrm>
        </p:spPr>
        <p:txBody>
          <a:bodyPr/>
          <a:lstStyle/>
          <a:p>
            <a:r>
              <a:rPr lang="en-US" sz="4000" dirty="0"/>
              <a:t>CogniShield: Edge-Based Adversarial Immunization and Signed Provenance for Digital Images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22960" y="3405157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0" i="0" dirty="0">
                <a:solidFill>
                  <a:srgbClr val="5B6472"/>
                </a:solidFill>
                <a:latin typeface="Calibri"/>
                <a:cs typeface="Calibri"/>
              </a:rPr>
              <a:t>BITE497J – Project I  |  B.Tech. Information Technology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22960" y="3953797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0" i="0" dirty="0">
                <a:solidFill>
                  <a:srgbClr val="1F2A44"/>
                </a:solidFill>
                <a:latin typeface="Calibri"/>
                <a:cs typeface="Calibri"/>
              </a:rPr>
              <a:t>23BIT0030 – Rohit Kumar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0" i="0" dirty="0">
                <a:solidFill>
                  <a:srgbClr val="1F2A44"/>
                </a:solidFill>
                <a:latin typeface="Calibri"/>
                <a:cs typeface="Calibri"/>
              </a:rPr>
              <a:t>23BIT0067 – Shivansh Rai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0" i="0" dirty="0">
                <a:solidFill>
                  <a:srgbClr val="1F2A44"/>
                </a:solidFill>
                <a:latin typeface="Calibri"/>
                <a:cs typeface="Calibri"/>
              </a:rPr>
              <a:t>23BIT0241 – Aviral Bhan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22960" y="5142517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0" i="0" dirty="0">
                <a:solidFill>
                  <a:srgbClr val="1F2A44"/>
                </a:solidFill>
                <a:latin typeface="Calibri"/>
                <a:cs typeface="Calibri"/>
              </a:rPr>
              <a:t>Guide: Dr. Angulakshmi 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B6472"/>
                </a:solidFill>
                <a:latin typeface="Calibri"/>
                <a:cs typeface="Calibri"/>
              </a:rPr>
              <a:t>School of Computer Science Engineering and Information Systems, VIT Vellore  |  November 2026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822960" y="3222277"/>
            <a:ext cx="3291840" cy="0"/>
          </a:xfrm>
          <a:prstGeom prst="line">
            <a:avLst/>
          </a:prstGeom>
          <a:ln w="28575">
            <a:solidFill>
              <a:srgbClr val="1F4E7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sp>
        <p:nvSpPr>
          <p:cNvPr id="12" name="Text 12"/>
          <p:cNvSpPr txBox="1"/>
          <p:nvPr/>
        </p:nvSpPr>
        <p:spPr>
          <a:xfrm>
            <a:off x="548640" y="1371600"/>
            <a:ext cx="521208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200" b="0" i="0" dirty="0">
                <a:solidFill>
                  <a:srgbClr val="1F2A44"/>
                </a:solidFill>
                <a:latin typeface="Calibri"/>
                <a:cs typeface="Calibri"/>
              </a:rPr>
              <a:t>The problem and why it matters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200" b="0" i="0" dirty="0">
                <a:solidFill>
                  <a:srgbClr val="1F2A44"/>
                </a:solidFill>
                <a:latin typeface="Calibri"/>
                <a:cs typeface="Calibri"/>
              </a:rPr>
              <a:t>Objective, background, related work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200" b="0" i="0" dirty="0">
                <a:solidFill>
                  <a:srgbClr val="1F2A44"/>
                </a:solidFill>
                <a:latin typeface="Calibri"/>
                <a:cs typeface="Calibri"/>
              </a:rPr>
              <a:t>Scope, threat model and goals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200" b="0" i="0" dirty="0">
                <a:solidFill>
                  <a:srgbClr val="1F2A44"/>
                </a:solidFill>
                <a:latin typeface="Calibri"/>
                <a:cs typeface="Calibri"/>
              </a:rPr>
              <a:t>System design and algorithms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309360" y="1371600"/>
            <a:ext cx="521208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200" b="0" i="0" dirty="0">
                <a:solidFill>
                  <a:srgbClr val="1F2A44"/>
                </a:solidFill>
                <a:latin typeface="Calibri"/>
                <a:cs typeface="Calibri"/>
              </a:rPr>
              <a:t>Provenance and the SD-Turbo test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200" b="0" i="0" dirty="0">
                <a:solidFill>
                  <a:srgbClr val="1F2A44"/>
                </a:solidFill>
                <a:latin typeface="Calibri"/>
                <a:cs typeface="Calibri"/>
              </a:rPr>
              <a:t>Demonstration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200" b="0" i="0" dirty="0">
                <a:solidFill>
                  <a:srgbClr val="1F2A44"/>
                </a:solidFill>
                <a:latin typeface="Calibri"/>
                <a:cs typeface="Calibri"/>
              </a:rPr>
              <a:t>Results on 14 images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200" b="0" i="0" dirty="0">
                <a:solidFill>
                  <a:srgbClr val="1F2A44"/>
                </a:solidFill>
                <a:latin typeface="Calibri"/>
                <a:cs typeface="Calibri"/>
              </a:rPr>
              <a:t>Limitations, future work, conclusion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sp>
        <p:nvSpPr>
          <p:cNvPr id="12" name="Text 1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lang="en-US" sz="2400" b="0" i="0" dirty="0">
                <a:solidFill>
                  <a:srgbClr val="1F2A44"/>
                </a:solidFill>
                <a:latin typeface="Calibri"/>
                <a:cs typeface="Calibri"/>
              </a:rPr>
              <a:t>A photo posted online can be copied and edited by anyone</a:t>
            </a:r>
          </a:p>
          <a:p>
            <a:pPr marL="285750" indent="-285750" algn="l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lang="en-US" sz="2400" b="0" i="0" dirty="0">
                <a:solidFill>
                  <a:srgbClr val="1F2A44"/>
                </a:solidFill>
                <a:latin typeface="Calibri"/>
                <a:cs typeface="Calibri"/>
              </a:rPr>
              <a:t>Image-to-image diffusion models keep the person's face and pose but change the scene</a:t>
            </a:r>
          </a:p>
          <a:p>
            <a:pPr marL="285750" indent="-285750" algn="l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lang="en-US" sz="2400" b="0" i="0" dirty="0">
                <a:solidFill>
                  <a:srgbClr val="1F2A44"/>
                </a:solidFill>
                <a:latin typeface="Calibri"/>
                <a:cs typeface="Calibri"/>
              </a:rPr>
              <a:t>A few lines of code, or one button, are enough</a:t>
            </a:r>
          </a:p>
          <a:p>
            <a:pPr marL="285750" indent="-285750" algn="l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lang="en-US" sz="2400" b="0" i="0" dirty="0">
                <a:solidFill>
                  <a:srgbClr val="1F2A44"/>
                </a:solidFill>
                <a:latin typeface="Calibri"/>
                <a:cs typeface="Calibri"/>
              </a:rPr>
              <a:t>Most defences are detectors: they react after the fake already exists</a:t>
            </a:r>
          </a:p>
          <a:p>
            <a:pPr marL="285750" indent="-285750" algn="l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lang="en-US" sz="2400" b="0" i="0" dirty="0">
                <a:solidFill>
                  <a:srgbClr val="1F2A44"/>
                </a:solidFill>
                <a:latin typeface="Calibri"/>
                <a:cs typeface="Calibri"/>
              </a:rPr>
              <a:t>The owner cannot make the original harder to misuse, or prove which file is theirs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Reactive detection versus acting first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pic>
        <p:nvPicPr>
          <p:cNvPr id="12" name="Picture 12" descr="f_g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675120" cy="3185082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7589520" y="1463040"/>
            <a:ext cx="4023360" cy="411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1F2A44"/>
                </a:solidFill>
                <a:latin typeface="Calibri"/>
                <a:cs typeface="Calibri"/>
              </a:rPr>
              <a:t>Detection: arms race with generators, works after harm is done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1F2A44"/>
                </a:solidFill>
                <a:latin typeface="Calibri"/>
                <a:cs typeface="Calibri"/>
              </a:rPr>
              <a:t>CogniShield: change the image slightly before upload and sign it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1F2A44"/>
                </a:solidFill>
                <a:latin typeface="Calibri"/>
                <a:cs typeface="Calibri"/>
              </a:rPr>
              <a:t>Everything runs on the user's own computer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sp>
        <p:nvSpPr>
          <p:cNvPr id="12" name="Text 12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0" i="0" dirty="0">
                <a:solidFill>
                  <a:srgbClr val="5B6472"/>
                </a:solidFill>
                <a:latin typeface="Calibri"/>
                <a:cs typeface="Calibri"/>
              </a:rPr>
              <a:t>Build a local tool that protects an image and signs it. It should: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48640" y="1920240"/>
            <a:ext cx="11064240" cy="429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1F2A44"/>
                </a:solidFill>
                <a:latin typeface="Calibri"/>
                <a:cs typeface="Calibri"/>
              </a:rPr>
              <a:t>add a small, bounded, hard-to-see perturbation (at most 8 of 255 levels by default)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1F2A44"/>
                </a:solidFill>
                <a:latin typeface="Calibri"/>
                <a:cs typeface="Calibri"/>
              </a:rPr>
              <a:t>make that perturbation aware of JPEG compression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1F2A44"/>
                </a:solidFill>
                <a:latin typeface="Calibri"/>
                <a:cs typeface="Calibri"/>
              </a:rPr>
              <a:t>measure the quality cost: PSNR, SSIM, MSE, mean and max pixel change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1F2A44"/>
                </a:solidFill>
                <a:latin typeface="Calibri"/>
                <a:cs typeface="Calibri"/>
              </a:rPr>
              <a:t>sign the protected file with Ed25519 over a SHA-256 hash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1F2A44"/>
                </a:solidFill>
                <a:latin typeface="Calibri"/>
                <a:cs typeface="Calibri"/>
              </a:rPr>
              <a:t>optionally compare original and protected images through SD-Turbo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1F2A44"/>
                </a:solidFill>
                <a:latin typeface="Calibri"/>
                <a:cs typeface="Calibri"/>
              </a:rPr>
              <a:t>work from a web page and from the command line, without uploading anything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sp>
        <p:nvSpPr>
          <p:cNvPr id="12" name="Text 1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lang="en-US" sz="2200" b="1" i="0" dirty="0">
                <a:solidFill>
                  <a:srgbClr val="1F2A44"/>
                </a:solidFill>
                <a:latin typeface="Calibri"/>
                <a:cs typeface="Calibri"/>
              </a:rPr>
              <a:t>Easy tools.</a:t>
            </a:r>
            <a:r>
              <a:rPr lang="en-US" sz="2200" b="0" i="0" dirty="0">
                <a:solidFill>
                  <a:srgbClr val="1F2A44"/>
                </a:solidFill>
                <a:latin typeface="Calibri"/>
                <a:cs typeface="Calibri"/>
              </a:rPr>
              <a:t> Open-weight models like SD-Turbo run on a home GPU in one to four steps.</a:t>
            </a:r>
          </a:p>
          <a:p>
            <a:pPr marL="285750" indent="-285750" algn="l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lang="en-US" sz="2200" b="1" i="0" dirty="0">
                <a:solidFill>
                  <a:srgbClr val="1F2A44"/>
                </a:solidFill>
                <a:latin typeface="Calibri"/>
                <a:cs typeface="Calibri"/>
              </a:rPr>
              <a:t>Detection lags.</a:t>
            </a:r>
            <a:r>
              <a:rPr lang="en-US" sz="2200" b="0" i="0" dirty="0">
                <a:solidFill>
                  <a:srgbClr val="1F2A44"/>
                </a:solidFill>
                <a:latin typeface="Calibri"/>
                <a:cs typeface="Calibri"/>
              </a:rPr>
              <a:t> Detectors are trained on old generators and weaken after resizing and recompression.</a:t>
            </a:r>
          </a:p>
          <a:p>
            <a:pPr marL="285750" indent="-285750" algn="l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lang="en-US" sz="2200" b="1" i="0" dirty="0">
                <a:solidFill>
                  <a:srgbClr val="1F2A44"/>
                </a:solidFill>
                <a:latin typeface="Calibri"/>
                <a:cs typeface="Calibri"/>
              </a:rPr>
              <a:t>Privacy.</a:t>
            </a:r>
            <a:r>
              <a:rPr lang="en-US" sz="2200" b="0" i="0" dirty="0">
                <a:solidFill>
                  <a:srgbClr val="1F2A44"/>
                </a:solidFill>
                <a:latin typeface="Calibri"/>
                <a:cs typeface="Calibri"/>
              </a:rPr>
              <a:t> Uploading a photo to a protection service sends the very image you worry about to someone else.</a:t>
            </a:r>
          </a:p>
          <a:p>
            <a:pPr marL="285750" indent="-285750" algn="l"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lang="en-US" sz="2200" b="1" i="0" dirty="0">
                <a:solidFill>
                  <a:srgbClr val="1F2A44"/>
                </a:solidFill>
                <a:latin typeface="Calibri"/>
                <a:cs typeface="Calibri"/>
              </a:rPr>
              <a:t>Learning value.</a:t>
            </a:r>
            <a:r>
              <a:rPr lang="en-US" sz="2200" b="0" i="0" dirty="0">
                <a:solidFill>
                  <a:srgbClr val="1F2A44"/>
                </a:solidFill>
                <a:latin typeface="Calibri"/>
                <a:cs typeface="Calibri"/>
              </a:rPr>
              <a:t> Adversarial ML, cryptography and web engineering in one small, inspectable pipeline.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sp>
        <p:nvSpPr>
          <p:cNvPr id="12" name="Text 12"/>
          <p:cNvSpPr txBox="1"/>
          <p:nvPr/>
        </p:nvSpPr>
        <p:spPr>
          <a:xfrm>
            <a:off x="548640" y="1371600"/>
            <a:ext cx="5394960" cy="4846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1F2A44"/>
                </a:solidFill>
                <a:latin typeface="Calibri"/>
                <a:cs typeface="Calibri"/>
              </a:rPr>
              <a:t>Editing with diffusion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Add noise to the photo, then denoise under a new prompt (SDEdit); "strength" sets how much changes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1F2A44"/>
                </a:solidFill>
                <a:latin typeface="Calibri"/>
                <a:cs typeface="Calibri"/>
              </a:rPr>
              <a:t>Adversarial perturbations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A change of at most ε per pixel can mislead a model; PhotoGuard uses this to resist editing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309360" y="1371600"/>
            <a:ext cx="5303520" cy="4846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1F2A44"/>
                </a:solidFill>
                <a:latin typeface="Calibri"/>
                <a:cs typeface="Calibri"/>
              </a:rPr>
              <a:t>JPEG compression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8×8 DCT blocks; high-frequency detail is quantised away first, exactly where small perturbations live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1F2A44"/>
                </a:solidFill>
                <a:latin typeface="Calibri"/>
                <a:cs typeface="Calibri"/>
              </a:rPr>
              <a:t>Provenance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SHA-256 digest of the file, signed with Ed25519; any changed byte breaks verification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work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548640" y="1371600"/>
          <a:ext cx="11064240" cy="3950208"/>
        </p:xfrm>
        <a:graphic>
          <a:graphicData uri="http://schemas.openxmlformats.org/drawingml/2006/table">
            <a:tbl>
              <a:tblPr firstRow="1"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Work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12700">
                      <a:solidFill>
                        <a:srgbClr val="1F2A4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Idea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12700">
                      <a:solidFill>
                        <a:srgbClr val="1F2A4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Difference from this project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12700">
                      <a:solidFill>
                        <a:srgbClr val="1F2A4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PhotoGuard (2023)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Immunize images against diffusion editing by attacking the model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Needs model access and heavy compute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Fawkes (2020)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Cloak photos against face-recognition training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Different misuse: recognition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Glaze (2023), Anti-DreamBooth (2023), AdvDM (2023)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Protect style and personalised fine-tuning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Target training, not image-to-image editing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Shin &amp; Song (2017)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JPEG-resistant adversarial images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We use the real JPEG encoder in a feedback loop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C2PA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Signed provenance manifests with certificates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We use a local key pair and a sidecar JSON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and scope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sp>
        <p:nvSpPr>
          <p:cNvPr id="12" name="Text 12"/>
          <p:cNvSpPr txBox="1"/>
          <p:nvPr/>
        </p:nvSpPr>
        <p:spPr>
          <a:xfrm>
            <a:off x="548640" y="1325880"/>
            <a:ext cx="1106424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900" b="0" i="1" dirty="0">
                <a:solidFill>
                  <a:srgbClr val="1F2A44"/>
                </a:solidFill>
                <a:latin typeface="Calibri"/>
                <a:cs typeface="Calibri"/>
              </a:rPr>
              <a:t>Given an image, produce a near-identical protected copy that differs by at most a small bound, is built to survive JPEG, has its quality cost measured, and whose exact bytes are signed. All of it runs locally.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48640" y="292608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1F2A44"/>
                </a:solidFill>
                <a:latin typeface="Calibri"/>
                <a:cs typeface="Calibri"/>
              </a:rPr>
              <a:t>In scope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Still images (PNG, JPG, WEBP, up to 200 MB)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Edge-aware perturbation with JPEG feedback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Metrics and JPEG tests at 95/85/75/60/50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Ed25519 signing and verification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Optional SD-Turbo comparison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309360" y="2926080"/>
            <a:ext cx="5303520" cy="3291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1F2A44"/>
                </a:solidFill>
                <a:latin typeface="Calibri"/>
                <a:cs typeface="Calibri"/>
              </a:rPr>
              <a:t>Out of scope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Video and audio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Gradient optimisation against a model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Guarantees against cropping, screenshots, print-and-scan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Certificate authority / PKI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Human perceptual study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model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pic>
        <p:nvPicPr>
          <p:cNvPr id="12" name="Picture 12" descr="f_thre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766560" cy="3338627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7680960" y="1463040"/>
            <a:ext cx="393192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Attacker downloads the published image and runs image-to-image generation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Attacker can recompress with JPEG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Attacker cannot forge a signature without the private key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We claim integrity of the file and a measured change, not immunity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and how they are checked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548640" y="1371600"/>
          <a:ext cx="11064240" cy="4023360"/>
        </p:xfrm>
        <a:graphic>
          <a:graphicData uri="http://schemas.openxmlformats.org/drawingml/2006/table">
            <a:tbl>
              <a:tblPr firstRow="1"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ID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12700">
                      <a:solidFill>
                        <a:srgbClr val="1F2A4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Goal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12700">
                      <a:solidFill>
                        <a:srgbClr val="1F2A4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Acceptance criterion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12700">
                      <a:solidFill>
                        <a:srgbClr val="1F2A4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G1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Imperceptible protection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PSNR above 30 dB, SSIM close to 1.0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G2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Bounded change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Max pixel change never exceeds the budget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G3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Compression awareness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Tested at JPEG 95, 75, 50; effect of feedback measured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G4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Reproducibility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Same image, seed, settings: identical output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G5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Verifiable provenance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Valid for the file, fails if one byte changes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G6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Target-model comparison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Original and protected through SD-Turbo, side by side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G7 / G8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Usability, local operation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Browser workflow; server on 127.0.0.1 only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pic>
        <p:nvPicPr>
          <p:cNvPr id="12" name="Picture 12" descr="f_contex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49440" cy="3654629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7863840" y="1463040"/>
            <a:ext cx="3749039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Core library of six small modules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Flask web page and two command-line programs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Outputs and keys stay in project folders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SD-Turbo is optional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architecture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pic>
        <p:nvPicPr>
          <p:cNvPr id="12" name="Picture 12" descr="f_st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583680" cy="3988854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7498079" y="1463040"/>
            <a:ext cx="411480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protector: noise, edge mask, feedback loop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compression: JPEG round trips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metrics: PSNR, SSIM, MSE, deltas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provenance: hash, sign, verify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sd_turbo: optional model runner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About 430 lines of Python in the library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specification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548640" y="1371600"/>
          <a:ext cx="11064240" cy="3840480"/>
        </p:xfrm>
        <a:graphic>
          <a:graphicData uri="http://schemas.openxmlformats.org/drawingml/2006/table">
            <a:tbl>
              <a:tblPr firstRow="1"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12700">
                      <a:solidFill>
                        <a:srgbClr val="1F2A4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Core protection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12700">
                      <a:solidFill>
                        <a:srgbClr val="1F2A4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SD-Turbo test (optional)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12700">
                      <a:solidFill>
                        <a:srgbClr val="1F2A4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Hardware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Any 64-bit CPU, 4 GB RAM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NVIDIA GPU with CUDA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Windows 10/11, Python 3.12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PyTorch (CUDA 12.8), diffusers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Libraries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NumPy, Pillow, scikit-image, cryptography, Flask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transformers, accelerate, huggingface_hub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Disk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About 2 GB packages, about 5 MB per run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Several GB for the model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Interfaces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Web at 127.0.0.1:5000; run_pipeline.py; run_batch.py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Tick-box in the web page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 pipeline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pic>
        <p:nvPicPr>
          <p:cNvPr id="12" name="Picture 12" descr="f_pipeli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26" y="1371600"/>
            <a:ext cx="6726586" cy="484632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7680960" y="1463040"/>
            <a:ext cx="393192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Image is converted to RGB floats in [0, 1]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Seeded noise × edge mask × budget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JPEG feedback refines it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Protected PNG, noise preview, difference ×12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Metrics, JPEG tests, then hash and signature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Noise and edge mask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sp>
        <p:nvSpPr>
          <p:cNvPr id="12" name="Text 1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1900" b="1" i="0" dirty="0">
                <a:solidFill>
                  <a:srgbClr val="1F2A44"/>
                </a:solidFill>
                <a:latin typeface="Calibri"/>
                <a:cs typeface="Calibri"/>
              </a:rPr>
              <a:t>High-frequency noise.</a:t>
            </a:r>
            <a:r>
              <a:rPr lang="en-US" sz="1900" b="0" i="0" dirty="0">
                <a:solidFill>
                  <a:srgbClr val="1F2A44"/>
                </a:solidFill>
                <a:latin typeface="Calibri"/>
                <a:cs typeface="Calibri"/>
              </a:rPr>
              <a:t> Seeded Gaussian noise ξ minus a blurred copy, scaled by its largest value: n = (ξ − G(ξ)) / max|…|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1900" b="1" i="0" dirty="0">
                <a:solidFill>
                  <a:srgbClr val="1F2A44"/>
                </a:solidFill>
                <a:latin typeface="Calibri"/>
                <a:cs typeface="Calibri"/>
              </a:rPr>
              <a:t>Edge mask.</a:t>
            </a:r>
            <a:r>
              <a:rPr lang="en-US" sz="1900" b="0" i="0" dirty="0">
                <a:solidFill>
                  <a:srgbClr val="1F2A44"/>
                </a:solidFill>
                <a:latin typeface="Calibri"/>
                <a:cs typeface="Calibri"/>
              </a:rPr>
              <a:t> Gradient of the grey image, normalised to g in [0, 1]:  m = (1 − w) + w · g,  with w = 0.65, so flat areas still get 35%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1900" b="1" i="0" dirty="0">
                <a:solidFill>
                  <a:srgbClr val="1F2A44"/>
                </a:solidFill>
                <a:latin typeface="Calibri"/>
                <a:cs typeface="Calibri"/>
              </a:rPr>
              <a:t>Bounded start.</a:t>
            </a:r>
            <a:r>
              <a:rPr lang="en-US" sz="1900" b="0" i="0" dirty="0">
                <a:solidFill>
                  <a:srgbClr val="1F2A44"/>
                </a:solidFill>
                <a:latin typeface="Calibri"/>
                <a:cs typeface="Calibri"/>
              </a:rPr>
              <a:t> δ0 = clip(n · m · ε, −ε, +ε), where ε = E/255 and E is 1 to 16 (default 8)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1900" b="0" i="0" dirty="0">
                <a:solidFill>
                  <a:srgbClr val="1F2A44"/>
                </a:solidFill>
                <a:latin typeface="Calibri"/>
                <a:cs typeface="Calibri"/>
              </a:rPr>
              <a:t>Same seed gives the same noise, so every run can be repeated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JPEG feedback loop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pic>
        <p:nvPicPr>
          <p:cNvPr id="12" name="Picture 12" descr="f_al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4754880" cy="4722896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5669280" y="1417320"/>
            <a:ext cx="5943600" cy="475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Candidate = clip(original + δ)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Compress it at each chosen quality; average what JPEG removed: f = mean(candidate − JPEG_q(candidate))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Update δ ← clip(δ + λ·f, −ε, +ε), with λ = 0.16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Repeat N times (default 4); uses the real JPEG encoder, no gradients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Side effect, measured later: the loop adds energy, so PSNR falls as iterations rise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quality is measured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548640" y="1371600"/>
          <a:ext cx="11064240" cy="3401568"/>
        </p:xfrm>
        <a:graphic>
          <a:graphicData uri="http://schemas.openxmlformats.org/drawingml/2006/table">
            <a:tbl>
              <a:tblPr firstRow="1"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Measure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12700">
                      <a:solidFill>
                        <a:srgbClr val="1F2A4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Good direction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12700">
                      <a:solidFill>
                        <a:srgbClr val="1F2A4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Meaning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12700">
                      <a:solidFill>
                        <a:srgbClr val="1F2A4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PSNR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Higher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10·log10(1 / MSE); above 30 dB usually means low visible distortion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SSIM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Closer to 1.0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Local luminance, contrast and structure similarity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MSE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Lower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Mean squared pixel error on the 0–1 scale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Mean abs. delta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Lower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Average per-pixel change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Max abs. delta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Lower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Largest change; equals the budget here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3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700" b="0" i="0" dirty="0">
                <a:solidFill>
                  <a:srgbClr val="5B6472"/>
                </a:solidFill>
                <a:latin typeface="Calibri"/>
                <a:cs typeface="Calibri"/>
              </a:rPr>
              <a:t>The protected image is also JPEG-compressed at 95, 75 and 50 and compared with the original.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Signed provenance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pic>
        <p:nvPicPr>
          <p:cNvPr id="12" name="Picture 12" descr="f_prov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49440" cy="374148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7772400" y="1463040"/>
            <a:ext cx="384048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SHA-256 of the protected PNG bytes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Ed25519 signature (64 bytes), saved in a JSON manifest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Verification recomputes the hash first, then checks the signature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Proves the bytes match what was signed; says nothing about whether the scene is real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SD-Turbo test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pic>
        <p:nvPicPr>
          <p:cNvPr id="12" name="Picture 12" descr="f_sdfl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766560" cy="2912712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7680960" y="1463040"/>
            <a:ext cx="393192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Image-to-image, strength 0.55, guidance 0, longest side 512 px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Same prompt and seed for original and protected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Runs in a separate process with a 300 s timeout</a:t>
            </a:r>
          </a:p>
          <a:p>
            <a:pPr marL="285750" indent="-285750"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If the model fails, the signed protection result is still returned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Demonstration: web interface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pic>
        <p:nvPicPr>
          <p:cNvPr id="12" name="Picture 12" descr="f_u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34" y="1371600"/>
            <a:ext cx="6570491" cy="429768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7498079" y="1463040"/>
            <a:ext cx="4114800" cy="475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Drag and drop an image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Set budget, feedback, seed, JPEG tests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Press Protect image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Compare images, read metrics and the JPEG table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Download the PNG and the manifest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Dark mode by default, light toggle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Demonstration: portrait run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pic>
        <p:nvPicPr>
          <p:cNvPr id="12" name="Picture 12" descr="f_portra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80" y="1280160"/>
            <a:ext cx="4720958" cy="493776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6035040" y="1463040"/>
            <a:ext cx="5577840" cy="475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1F2A44"/>
                </a:solidFill>
                <a:latin typeface="Calibri"/>
                <a:cs typeface="Calibri"/>
              </a:rPr>
              <a:t>Default settings: budget 8, 4 iterations, seed 42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1F2A44"/>
                </a:solidFill>
                <a:latin typeface="Calibri"/>
                <a:cs typeface="Calibri"/>
              </a:rPr>
              <a:t>PSNR 45.49 dB, SSIM 0.9831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1F2A44"/>
                </a:solidFill>
                <a:latin typeface="Calibri"/>
                <a:cs typeface="Calibri"/>
              </a:rPr>
              <a:t>Average pixel change about 1.00 level; maximum exactly 8 levels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1F2A44"/>
                </a:solidFill>
                <a:latin typeface="Calibri"/>
                <a:cs typeface="Calibri"/>
              </a:rPr>
              <a:t>Difference ×12 follows hair, eyes and clothing edges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1F2A44"/>
                </a:solidFill>
                <a:latin typeface="Calibri"/>
                <a:cs typeface="Calibri"/>
              </a:rPr>
              <a:t>After JPEG q=95 / 75 / 50: PSNR 45.12 / 42.10 / 39.48 dB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how visible is the change?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pic>
        <p:nvPicPr>
          <p:cNvPr id="12" name="Picture 12" descr="f_per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583680" cy="2984883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7498079" y="1463040"/>
            <a:ext cx="4114800" cy="475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14 images, default settings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Mean PSNR 41.56 dB (range 38.07 to 45.78)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Mean SSIM 0.9800 (lowest 0.9618)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All 14 above 30 dB and above 0.95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Max change exactly 8 levels in every image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after JPEG compression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pic>
        <p:nvPicPr>
          <p:cNvPr id="12" name="Picture 12" descr="f_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583680" cy="2773189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7498079" y="1463040"/>
            <a:ext cx="4114800" cy="475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Protected vs original JPEG: PSNR gap 3.37 / 0.94 / 0.16 dB at q = 95 / 75 / 50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Compression error swamps the perturbation as quality drops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Median retention of the perturbation: 0.60 / 0.50 / 0.17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About half survives at 95 and 75; under a fifth at 50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feedback iterations and budget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pic>
        <p:nvPicPr>
          <p:cNvPr id="12" name="Picture 12" descr="f_it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583680" cy="2773189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7498079" y="1463040"/>
            <a:ext cx="4114800" cy="475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Feedback raises retention at q=95 from 0.21 to 0.55, at q=75 from 0.10 to 0.48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It costs about 9.9 dB of PSNR over 4 iterations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Benefit peaks at 3 to 5 iterations, then falls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Budget 1 to 16: PSNR 50.25 to 39.06 dB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Suggestion: 3 iterations may be a better default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other edits, and the final perturbation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pic>
        <p:nvPicPr>
          <p:cNvPr id="12" name="Picture 12" descr="f_transfo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035039" cy="2726795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6949440" y="1463040"/>
            <a:ext cx="4663440" cy="475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Resize 50% keeps 0.18, blur 0.28, median filter 0.30 of the perturbation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Initial noise averages only 0.49 levels; the final perturbation 1.62 levels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Final perturbation tracks the image's own JPEG residual (correlation 0.75) more than the seeded noise (0.49)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Only 1.7% of pixel values reach the budget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effect on SD-Turbo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pic>
        <p:nvPicPr>
          <p:cNvPr id="12" name="Picture 12" descr="f_sdp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035040" cy="3103576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6949440" y="1463040"/>
            <a:ext cx="4663440" cy="475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Outputs for original and protected look almost identical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PSNR between outputs 41.06 dB, SSIM 0.9863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Between the inputs it was 45.49 dB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1" i="0" dirty="0">
                <a:solidFill>
                  <a:srgbClr val="1F2A44"/>
                </a:solidFill>
                <a:latin typeface="Calibri"/>
                <a:cs typeface="Calibri"/>
              </a:rPr>
              <a:t>No visible disruption of SD-Turbo at default settings</a:t>
            </a:r>
          </a:p>
          <a:p>
            <a:pPr marL="285750" indent="-285750" algn="l">
              <a:spcBef>
                <a:spcPts val="0"/>
              </a:spcBef>
              <a:spcAft>
                <a:spcPts val="11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One image, one prompt, one seed; the harness works, the defence does not yet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provenance, repeatability and speed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548640" y="1371600"/>
          <a:ext cx="11064240" cy="3840480"/>
        </p:xfrm>
        <a:graphic>
          <a:graphicData uri="http://schemas.openxmlformats.org/drawingml/2006/table">
            <a:tbl>
              <a:tblPr firstRow="1"/>
              <a:tblGrid>
                <a:gridCol w="566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Check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12700">
                      <a:solidFill>
                        <a:srgbClr val="1F2A4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Result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12700">
                      <a:solidFill>
                        <a:srgbClr val="1F2A4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Recorded manifests whose SHA-256 matches the file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18 of 18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Digest still matches after one flipped bit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0 of 18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Same image, seed, settings twice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Bit-identical output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PSNR across 10 seeds (portrait)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45.11 to 45.90 dB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Protection time, 512 × 512 / 1024 × 1024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0.19 s / 0.75 s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Average over the 14 test images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0.27 s per image</a:t>
                      </a:r>
                    </a:p>
                  </a:txBody>
                  <a:tcPr marL="68580" marR="6858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8BEC8"/>
                      </a:solidFill>
                    </a:lnT>
                    <a:lnB w="6350">
                      <a:solidFill>
                        <a:srgbClr val="B8BEC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future work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sp>
        <p:nvSpPr>
          <p:cNvPr id="12" name="Text 12"/>
          <p:cNvSpPr txBox="1"/>
          <p:nvPr/>
        </p:nvSpPr>
        <p:spPr>
          <a:xfrm>
            <a:off x="548640" y="1371600"/>
            <a:ext cx="5303520" cy="4846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1F2A44"/>
                </a:solidFill>
                <a:latin typeface="Calibri"/>
                <a:cs typeface="Calibri"/>
              </a:rPr>
              <a:t>Limitations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No protective effect on SD-Turbo shown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Resizing, blur, median filter and JPEG q=50 remove most of it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Re-encoding invalidates the signature of the copy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Key is unencrypted; local key proves origin, not identity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14 images, one model test, no human study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309360" y="1371600"/>
            <a:ext cx="5303520" cy="4846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1F2A44"/>
                </a:solidFill>
                <a:latin typeface="Calibri"/>
                <a:cs typeface="Calibri"/>
              </a:rPr>
              <a:t>Future work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Optimise the perturbation against the target model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Test face-swap and inpainting models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Perturbations robust to resizing and filtering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Add a robust watermark next to the signature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1F2A44"/>
                </a:solidFill>
                <a:latin typeface="Calibri"/>
                <a:cs typeface="Calibri"/>
              </a:rPr>
              <a:t>Open provenance standard, protected keys, on-device version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9525">
            <a:solidFill>
              <a:srgbClr val="B8BEC8"/>
            </a:solidFill>
          </a:ln>
        </p:spPr>
      </p:cxnSp>
      <p:sp>
        <p:nvSpPr>
          <p:cNvPr id="12" name="Text 12"/>
          <p:cNvSpPr txBox="1"/>
          <p:nvPr/>
        </p:nvSpPr>
        <p:spPr>
          <a:xfrm>
            <a:off x="548640" y="1371600"/>
            <a:ext cx="11064240" cy="3566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100" b="0" i="0" dirty="0">
                <a:solidFill>
                  <a:srgbClr val="1F2A44"/>
                </a:solidFill>
                <a:latin typeface="Calibri"/>
                <a:cs typeface="Calibri"/>
              </a:rPr>
              <a:t>A complete local pipeline: perturb, measure, test JPEG, sign, verify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100" b="0" i="0" dirty="0">
                <a:solidFill>
                  <a:srgbClr val="1F2A44"/>
                </a:solidFill>
                <a:latin typeface="Calibri"/>
                <a:cs typeface="Calibri"/>
              </a:rPr>
              <a:t>Meets the goals for imperceptibility, boundedness, reproducibility and integrity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100" b="0" i="0" dirty="0">
                <a:solidFill>
                  <a:srgbClr val="1F2A44"/>
                </a:solidFill>
                <a:latin typeface="Calibri"/>
                <a:cs typeface="Calibri"/>
              </a:rPr>
              <a:t>Honest result: not yet a proven defence against a diffusion editor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100" b="0" i="0" dirty="0">
                <a:solidFill>
                  <a:srgbClr val="1F2A44"/>
                </a:solidFill>
                <a:latin typeface="Calibri"/>
                <a:cs typeface="Calibri"/>
              </a:rPr>
              <a:t>Value: a transparent baseline for stronger, model-aware protection</a:t>
            </a:r>
          </a:p>
        </p:txBody>
      </p:sp>
      <p:sp>
        <p:nvSpPr>
          <p:cNvPr id="90" name="Footer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CogniShield  |  BITE497J Project I  |  VIT Vellore</a:t>
            </a:r>
          </a:p>
        </p:txBody>
      </p:sp>
      <p:sp>
        <p:nvSpPr>
          <p:cNvPr id="91" name="Number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472"/>
                </a:solidFill>
                <a:latin typeface="Calibri"/>
                <a:cs typeface="Calibr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1F2A44"/>
      </a:dk1>
      <a:lt1>
        <a:srgbClr val="FFFFFF"/>
      </a:lt1>
      <a:dk2>
        <a:srgbClr val="5B6472"/>
      </a:dk2>
      <a:lt2>
        <a:srgbClr val="F2F2F2"/>
      </a:lt2>
      <a:accent1>
        <a:srgbClr val="1F4E79"/>
      </a:accent1>
      <a:accent2>
        <a:srgbClr val="7F7F7F"/>
      </a:accent2>
      <a:accent3>
        <a:srgbClr val="A6A6A6"/>
      </a:accent3>
      <a:accent4>
        <a:srgbClr val="404040"/>
      </a:accent4>
      <a:accent5>
        <a:srgbClr val="2E75B6"/>
      </a:accent5>
      <a:accent6>
        <a:srgbClr val="595959"/>
      </a:accent6>
      <a:hlink>
        <a:srgbClr val="1F4E79"/>
      </a:hlink>
      <a:folHlink>
        <a:srgbClr val="5B6472"/>
      </a:folHlink>
    </a:clrScheme>
    <a:fontScheme name="Plai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2228</Words>
  <Application>Microsoft Office PowerPoint</Application>
  <PresentationFormat>Widescreen</PresentationFormat>
  <Paragraphs>320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Plain</vt:lpstr>
      <vt:lpstr>CogniShield: Edge-Based Adversarial Immunization and Signed Provenance for Digital Images</vt:lpstr>
      <vt:lpstr>Outline</vt:lpstr>
      <vt:lpstr>The problem</vt:lpstr>
      <vt:lpstr>Reactive detection versus acting first</vt:lpstr>
      <vt:lpstr>Objective</vt:lpstr>
      <vt:lpstr>Motivation</vt:lpstr>
      <vt:lpstr>Background</vt:lpstr>
      <vt:lpstr>Related work</vt:lpstr>
      <vt:lpstr>Problem statement and scope</vt:lpstr>
      <vt:lpstr>Threat model</vt:lpstr>
      <vt:lpstr>Goals and how they are checked</vt:lpstr>
      <vt:lpstr>System overview</vt:lpstr>
      <vt:lpstr>Software architecture</vt:lpstr>
      <vt:lpstr>Technical specification</vt:lpstr>
      <vt:lpstr>Processing pipeline</vt:lpstr>
      <vt:lpstr>Noise and edge mask</vt:lpstr>
      <vt:lpstr>JPEG feedback loop</vt:lpstr>
      <vt:lpstr>How quality is measured</vt:lpstr>
      <vt:lpstr>Signed provenance</vt:lpstr>
      <vt:lpstr>Optional SD-Turbo test</vt:lpstr>
      <vt:lpstr>Demonstration: web interface</vt:lpstr>
      <vt:lpstr>Demonstration: portrait run</vt:lpstr>
      <vt:lpstr>Results: how visible is the change?</vt:lpstr>
      <vt:lpstr>Results: after JPEG compression</vt:lpstr>
      <vt:lpstr>Results: feedback iterations and budget</vt:lpstr>
      <vt:lpstr>Results: other edits, and the final perturbation</vt:lpstr>
      <vt:lpstr>Results: effect on SD-Turbo</vt:lpstr>
      <vt:lpstr>Results: provenance, repeatability and speed</vt:lpstr>
      <vt:lpstr>Limitations and future work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CogniShield Project I Presentation</dc:title>
  <dc:creator>Rohit Kumar, Shivansh Rai, Aviral Bhan</dc:creator>
  <cp:lastModifiedBy>Rohit Kumar</cp:lastModifiedBy>
  <cp:revision>1</cp:revision>
  <dcterms:modified xsi:type="dcterms:W3CDTF">2026-10-09T05:04:22Z</dcterms:modified>
</cp:coreProperties>
</file>